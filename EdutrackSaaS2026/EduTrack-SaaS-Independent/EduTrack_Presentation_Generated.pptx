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1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0" y="1097280"/>
            <a:ext cx="1828800" cy="822960"/>
          </a:xfrm>
          <a:prstGeom prst="round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11430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EduTrack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5BFF"/>
                </a:solidFill>
                <a:latin typeface="Calibri"/>
              </a:defRPr>
            </a:pPr>
            <a:r>
              <a:t>School Management Redefined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Complete Multi-Tenant Cloud SaaS Platform for Modern Schools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Covenant Synergy Private Limited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5120640"/>
            <a:ext cx="27432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About EduTrack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What is EduTrack and why does it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☁️  Cloud-based School Management System built as a multi-tenant SaaS platform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🏫  Target audience: K-12 schools, colleges, coaching institutes, and education groups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🌐  Multi-tenant architecture — one platform serves unlimited schools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🎨  Per-school custom branding with dedicated subdomains (school1.edutrack.com)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15+ fully functional modules covering all school operations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🗄️  30+ database tables with complete relational data models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🔗  100+ REST API endpoints powering every feature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📱  30+ responsive frontend screens (desktop + mobile optimized)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👥  6 distinct user roles with fine-grained access control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🚀  Deployed on Vercel (serverless) with AWS RDS PostgreSQL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Problems Solved by EduTrack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❌ Traditional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Paper-based student records lost easily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Manual fee collection with no receipts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Attendance taken on registers, never analyzed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visibility for parents on child's progress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Timetables made on paper, full of conflicts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Exam marks calculated manually, error-prone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No centralized school data analytics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Each school needs separate software installation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✅ EduTrack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Digital student profiles with instant search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Automated invoicing with PDF receipts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Real-time digital roll call with analytics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Parent portal for grades, fees &amp; attendance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Automated conflict-free timetable scheduling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Digital marks entry with grade reports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Unified dashboard with real-time KPIs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One SaaS platform serves all schools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Modern serverless cloud architecture with multi-tenant data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32004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E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Next.js 14 · React 18 · TailwindCSS</a:t>
            </a:r>
            <a:br/>
            <a:r>
              <a:t>Framer Motion · Lucide Icons · SWR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2004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NestJS 10 · TypeScript · Prisma ORM</a:t>
            </a:r>
            <a:br/>
            <a:r>
              <a:t>Passport.js · JWT · bcrypt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004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PostgreSQL (AWS RDS)</a:t>
            </a:r>
            <a:br/>
            <a:r>
              <a:t>30+ tables · Multi-tenant isolation</a:t>
            </a:r>
            <a:br/>
            <a:r>
              <a:t>Connection pooling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371600"/>
            <a:ext cx="3657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4173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☁️  Vercel Serverless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Zero-config deployment</a:t>
            </a:r>
            <a:br/>
            <a:r>
              <a:t>Edge + Serverless Functions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2743200"/>
            <a:ext cx="3657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788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🔐  Authentication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0632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JWT tokens + OTP</a:t>
            </a:r>
            <a:br/>
            <a:r>
              <a:t>Role-based guards (RBAC)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114800"/>
            <a:ext cx="3657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🏢  Multi-Tenant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34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Subdomain resolution</a:t>
            </a:r>
            <a:br/>
            <a:r>
              <a:t>AsyncLocalStorage context</a:t>
            </a:r>
            <a:br/>
            <a:r>
              <a:t>Per-tenant data isolation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5669280"/>
            <a:ext cx="365760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715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📦  AWS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989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S3 for file storage</a:t>
            </a:r>
            <a:br/>
            <a:r>
              <a:t>RDS for managed 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User Roles &amp;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6 distinct roles with fine-grained, JWT-enforced 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5603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SUPER 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Platform-level access. Manage all tenants and global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463040"/>
            <a:ext cx="2560320" cy="36576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BFF"/>
                </a:solidFill>
                <a:latin typeface="Calibri"/>
              </a:defRPr>
            </a:pPr>
            <a:r>
              <a:t>SCHOOL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school access. All modules, settings, users, and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25603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TEACHER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Attendance entry, marks entry, complaint submission, schedule.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40"/>
            <a:ext cx="25603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STAFF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43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Billing, library, expenses, student management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749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3749040"/>
            <a:ext cx="2560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343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View grades, attendance, schedule, library, and own profile.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749040"/>
            <a:ext cx="2560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74904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PARENT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3434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Monitor child's grades, attendance, and fee statements.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School Registration &amp;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Self-service registration — schools go live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📝  Multi-step registration wizard collects school details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🏫  School name, type, admin name, mobile, email, address, academic year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🌐  Automatic subdomain allocation (e.g., greenfield.edutrack.com)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👤  Admin user auto-created with SCHOOL_ADMIN role and JWT session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📋  Post-registration setup checklist tracks profile completion %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🎨  School branding: custom logo, name, subtitle on every screen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🏦  Banking &amp; UPI setup: Bank name, IFSC, Account, GPay, PhonePe, UPI QR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✅  13-field completion tracker ensures schools are fully configured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🔄  Settings sync across Tenant, SchoolSetup, and User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Dashboard &amp; Real-Time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Bird's-eye view of school operations with live KPIs and trend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417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417320" cy="36576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Students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463040"/>
            <a:ext cx="1417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1463040"/>
            <a:ext cx="14173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6002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65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Teachers &amp; Staff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1463040"/>
            <a:ext cx="1417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1463040"/>
            <a:ext cx="14173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6002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₹12.5L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965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463040"/>
            <a:ext cx="1417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1463040"/>
            <a:ext cx="14173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6002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92.3%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965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Attendance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463040"/>
            <a:ext cx="14173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1463040"/>
            <a:ext cx="14173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6002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96596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Academic Avg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4320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📈  6-month rolling financial chart: Fee Collection vs Salary Expense vs Net Revenue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📊  Month-over-month trend arrows for all KPIs (students, revenue, attendance, academic)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👤  Recent Admissions feed — latest 10 enrolled students with class &amp; joining date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💰  Recent Payments feed — latest fee payments and salary disbursements combined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🔄  Cached queries with 30-second TTL for optimal multi-user performance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📱  Fully responsive — KPI cards stack vertically on mobile screens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Student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Centralized student directory with full profile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🔍  Searchable directory with class/section filtering across 1000+ records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👤  Student profile cards: Photo, name, roll number, class, section, guardian details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📝  Edit student profile with inline modal (name, phone, email, guardian info)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🔢  Automatic roll number generation during admission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💰  Financial status badge: payment progress percentage per student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📤  Bulk student import via structured data upload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🗑️  Bulk delete with actor-audit logging for compliance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👨‍👩‍👧  Parent linkage: Father name, Mother name, Aadhar number tracking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Class and Section read-only display in edit mode (change via promotions)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Admissions Wizard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End-to-end admission from data entry to fee structure in one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45920"/>
            <a:ext cx="1554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Student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Name, phone, email,</a:t>
            </a:r>
            <a:br/>
            <a:r>
              <a:t>father/mother name,</a:t>
            </a:r>
            <a:br/>
            <a:r>
              <a:t>Aadhar number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645920"/>
            <a:ext cx="1554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14600" y="1783080"/>
            <a:ext cx="548640" cy="54864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 &amp;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9260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Select academic year,</a:t>
            </a:r>
            <a:br/>
            <a:r>
              <a:t>class, and section</a:t>
            </a:r>
            <a:br/>
            <a:r>
              <a:t>for enrollment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40" y="1645920"/>
            <a:ext cx="1554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17830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Fee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9260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Auto-load PriceBook</a:t>
            </a:r>
            <a:br/>
            <a:r>
              <a:t>for selected class.</a:t>
            </a:r>
            <a:br/>
            <a:r>
              <a:t>Select applicable fees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645920"/>
            <a:ext cx="1554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89320" y="178308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Concessions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9260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Apply concession</a:t>
            </a:r>
            <a:br/>
            <a:r>
              <a:t>amount. Calculate</a:t>
            </a:r>
            <a:br/>
            <a:r>
              <a:t>final fee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1645920"/>
            <a:ext cx="15544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26680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Confirm &amp; Create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926080"/>
            <a:ext cx="1371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Auto-create User,</a:t>
            </a:r>
            <a:br/>
            <a:r>
              <a:t>StudentProfile, Opportunity,</a:t>
            </a:r>
            <a:br/>
            <a:r>
              <a:t>and fee line 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5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5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5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5B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035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4B8A6"/>
                </a:solidFill>
                <a:latin typeface="Calibri"/>
              </a:defRPr>
            </a:pPr>
            <a:r>
              <a:t>⚡ Single-click enrollment: Student profile, user account, fee structure, and opportunity all created atomically in one database transaction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Fee Management &amp;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💳 Fee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Search students by name/class/section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View unpaid fees per student opportunity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Multi-item invoice creation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Payment: Cash / UPI / Bank Transfer / Card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Bank details attachment to invoices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Individual &amp; bulk discount application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Invoice voiding and reversal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Professional PDF receipt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📋 PriceBook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Create fee products: Tuition, Lab, Sports, etc.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Class-specific pricing per academic year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Activate/deactivate individual fee items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Salesforce-style Opportunity/OLI model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Automatic fee assignment on admission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Bulk student import with fee structure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Revenue tracking and collection reports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Outstanding receivables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Professional Fee Receipt / Invoice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640080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School Logo &amp;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Invoice #INV-2026-0142                                                  Date: July 04,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Student: Rahul Sharma  |  Class: Grade 10 - Section A  |  Roll No: 1042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Fee Item                                  Amount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91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Tuition Fee                               ₹ 25,000.00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66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Computer Lab Fee                      ₹   3,500.00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840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Sports Fee                                  ₹   2,000.00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1148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Library Fee                                  ₹   1,500.00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Discount (10%)                           – ₹  3,200.00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663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377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5BFF"/>
                </a:solidFill>
                <a:latin typeface="Calibri"/>
              </a:defRPr>
            </a:pPr>
            <a:r>
              <a:t>TOTAL PAID                               ₹ 28,800.00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949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Payment: UPI  |  Bank: SBI, Main Branch, IFSC: SBIN0001234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760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Print-ready • Professional branding • Digital PDF download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Attendance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Paperless digital roll call with real-time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📅  Class / Section / Date picker for targeted attendance entry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☑️  Interactive checkbox-based student roll call (Present / Absent / Late / Excused)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Session summary: present count, absent count, total students, attendance %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📆  Calendar-based historical attendance grid with color-coded days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📈  Class-wide attendance report with monthly/weekly trend charts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👤  Individual student attendance calendar heatmap and summary stats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📋  Daily and monthly aggregate summaries across all classes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👩‍🏫  Teacher attribution: every session linked to the staff member who took it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🔄  Edit and update existing attendance sessions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🗑️  Delete incorrect sessions with proper cleanup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Timetable &amp; Workload Scheduler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📅 Scheduling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Weekly grid builder (Mon – Sat)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Subject-Teacher-Period assignment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Automated conflict detection &amp; prevention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Period timing configuration (start/end)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Substitute teacher assignment per period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Bulk subject import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Bulk teacher import with skill mapping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Class-Section creation and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📊 Workload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Teacher workload summary across all classes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Class workload summary across all subjects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Individual teacher drill-down schedule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Gap period identification per teacher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Leaser period analysis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Periods-per-week tracking per assignment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Teacher skill levels: Beginner/Intermediate/Expert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Years of experience per subject skill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Examinations &amp; Grading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Complete exam lifecycle from type creation to grade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📝  Custom exam type management: Unit Test, Mid-Term, Final, etc. (CRUD)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🗓️  Create exams with name, type, class-section, and date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Subject-wise marks entry grid for selected class-section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✏️  Per-student marks input (0-100) with optional remarks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💾  Batch save: submit all marks for a class in one click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📈  Class-section grade report: aggregate performance across subjects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📉  Mark distribution curve: Failed / Below Average / Average / First Division / High Distinction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📋  Pass rate analytics: automated pass/fail ratio calculation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🏆  Subject-wise performance breakdown for targeted intervention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Student Promotions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Bulk promotion from one academic year/class to the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📆  Select source academic year and target academic year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🏫  Filter promotion candidates by class and section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☑️  Bulk student selection with select-all / individual checkboxes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🔄  Automatic class-section reassignment upon promotion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💰  New invoice/opportunity generation for the promoted year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⚡  Entire promotion workflow in a single atomic database transaction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Eliminates manual re-enrollment — promotes entire classes in seconds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Teacher &amp; Staff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👩‍🏫 Profile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Teacher profiles: designation, qualification, employee ID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Subject skill mapping (Beginner/Intermediate/Expert)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Years of experience per subject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Class-subject assignments with periods/week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Teacher schedule and timetable view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Teacher behavior cases history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Teaching staff vs. non-teaching staff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💰 Payroll &amp; HR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Salary structure: Basic + Allowances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Deductions: standard deductions + PF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Net salary auto-calculation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Individual salary payment per month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Bulk salary payment for all staff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Salary invoice/receipt generation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Payment history tracking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Joining date and status (Active/Suspended/Resigned)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Expense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Track, categorize, and approve all school expenditures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📝  Create expenses: amount, category, date, description, payment mode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📂  Category-based classification and filtering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🔄  Status workflow: Pending → Approved → Paid / Rejected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Expense summary: total expenses, category breakdown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✏️  Edit and update expense records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🗑️  Delete expense entries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💰  Integrated with dashboard financial analytics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📈  Month-over-month expense trend tracking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Library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Digital library with barcode-based book tracking and fine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📚  Book registration: Title, Author, ISBN, Category, Total Copies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🏷️  BookCopy tracking with unique barcodes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📤  Barcode-based book issue to students and staff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📥  Book return with automatic due date checking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💰  Late fee / fine calculation on overdue books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Copy status monitoring: Available / Issued / Lost / Damaged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📋  Complete borrow log history with borrower details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🔍  Available copies count auto-updated on issue/return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Complaint Box &amp; Behavior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Structured incident management for student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📝  Submit behavior records: Complaints (negative) and Praise (positive)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📂  Category and priority classification (High / Medium)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🔄  Status workflow: New → In Progress → Resolved → Closed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👩‍🏫  Teacher attribution: every case linked to the reporting teacher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🔍  Class-based student search for incident reporting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Student behavior statistics and incident history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📅  Academic year filtering for period-specific views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📋  Pending cases dashboard for admin review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🔗  Linked to teacher profile: view all cases reported by a teacher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Reports &amp; Analytics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Consolidated reporting across all modules for data-driven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6576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192024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📊 Enrollment Demographics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Student counts by class</a:t>
            </a:r>
            <a:br/>
            <a:r>
              <a:t>Admission timeline charts</a:t>
            </a:r>
            <a:br/>
            <a:r>
              <a:t>Enrollment growth trends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554480"/>
            <a:ext cx="36576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1554480"/>
            <a:ext cx="54864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💰 Financial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148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Total revenue &amp; receivables</a:t>
            </a:r>
            <a:br/>
            <a:r>
              <a:t>Expense breakdown</a:t>
            </a:r>
            <a:br/>
            <a:r>
              <a:t>Net cashflow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6576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📈 Grading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Mark distribution curve</a:t>
            </a:r>
            <a:br/>
            <a:r>
              <a:t>Pass/fail rate analysis</a:t>
            </a:r>
            <a:br/>
            <a:r>
              <a:t>Subject-wise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840480"/>
            <a:ext cx="365760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3840480"/>
            <a:ext cx="54864" cy="1920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📋 Cashflow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4348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Transaction-level detail</a:t>
            </a:r>
            <a:br/>
            <a:r>
              <a:t>Fee revenue breakdown</a:t>
            </a:r>
            <a:br/>
            <a:r>
              <a:t>Salary disbursements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Multi-Tenant SaaS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One platform, unlimited schools — with complete data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🌐  Subdomain-based tenant resolution: school1.edutrack.com → Tenant ID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📨  X-Tenant-ID header for API requests from SPA clients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❓  Query parameter fallback: ?tenant=school1 for flexibility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🧵  AsyncLocalStorage-based tenant context propagation (Node.js)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🔒  Per-tenant data filtering on ALL 30+ database tables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🎨  School-specific branding: custom logo, name, subtitle on every screen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🏦  Per-school banking &amp; UPI configuration for fee receipts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🔐  Subdomain uniqueness validation prevents conflicts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📊  Data isolation ensures School A can NEVER see School B's data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⚡  Single codebase deployment serves all schools simultaneously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🔐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JWT token-based session management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bcrypt password hashing (10 salt rounds)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OTP-based passwordless mobile login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Token expiry: 24h access, 7d refresh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Secure cookie-less API authentication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🛡️ Authorization &amp;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Role-Based Access Control (RBAC)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NestJS route guards per endpoint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Tenant isolation at middleware level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Activity audit logging for all actions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Entity-level change tracking with JSON diffs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Connection pooling for serverless security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768096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188720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5B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80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Next.js 14 (App Router) · React 18 · TypeScript</a:t>
            </a:r>
            <a:br/>
            <a:r>
              <a:t>TailwindCSS 3.4 · Framer Motion · Lucide React</a:t>
            </a:r>
            <a:br/>
            <a:r>
              <a:t>SWR · Axios · Responsive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768096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54864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51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NestJS 10 · TypeScript · Prisma 5 ORM</a:t>
            </a:r>
            <a:br/>
            <a:r>
              <a:t>Passport.js · JWT · bcrypt · class-validator</a:t>
            </a:r>
            <a:br/>
            <a:r>
              <a:t>class-transformer · CSV Parser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768096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4864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23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PostgreSQL (AWS RDS) · 30+ Prisma models</a:t>
            </a:r>
            <a:br/>
            <a:r>
              <a:t>UUID primary keys · Multi-tenant indexed</a:t>
            </a:r>
            <a:br/>
            <a:r>
              <a:t>Relational schema with cascade deletes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768096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03520"/>
            <a:ext cx="54864" cy="1188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Vercel Serverless (Frontend + Backend)</a:t>
            </a:r>
            <a:br/>
            <a:r>
              <a:t>AWS S3 (File Storage) · AWS RDS (Database)</a:t>
            </a:r>
            <a:br/>
            <a:r>
              <a:t>GitHub CI/CD · Zero-downtime deployments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Planned modules and features for the next release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🔮  Parent Portal — Online grade viewing, attendance tracking, UPI fee payments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📚  Teacher Portal — Homework tracking, lesson planner, syllabus progress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🚌  Transport Management — Route mapping, vehicle tracking, driver allocation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🏠  Hostel Management — Room allocation, occupancy tracking, meal plans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🔔  Real-Time Notifications — WebSocket push notifications across all roles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📧  SMS/Email Integration — Twilio/SendGrid for automated communication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📱  Mobile App — React Native companion app for parents &amp; teachers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🤖  AI Analytics — Predictive student performance &amp; dropout risk analysis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💳  Payment Gateway — Razorpay/Stripe integration for online fee payments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📄  Advanced Report Cards — Printable PDF report cards with school branding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4572000"/>
            <a:ext cx="3657600" cy="3657600"/>
          </a:xfrm>
          <a:prstGeom prst="ellipse">
            <a:avLst/>
          </a:prstGeom>
          <a:solidFill>
            <a:srgbClr val="1A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EduTrack — By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463040"/>
            <a:ext cx="2743200" cy="54864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150876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508760" cy="36576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2011680"/>
            <a:ext cx="150876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48840" y="2011680"/>
            <a:ext cx="150876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14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DB Tables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2011680"/>
            <a:ext cx="150876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0" y="2011680"/>
            <a:ext cx="1508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514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2011680"/>
            <a:ext cx="150876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011680"/>
            <a:ext cx="150876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514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Screens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011680"/>
            <a:ext cx="150876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2011680"/>
            <a:ext cx="1508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1488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514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User Roles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5BFF"/>
                </a:solidFill>
                <a:latin typeface="Calibri"/>
              </a:defRPr>
            </a:pPr>
            <a:r>
              <a:t>Ready to Transform Your School Management?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Multi-Tenant SaaS  •  Cloud-Native  •  Zero Infrastructure Hassle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029200"/>
            <a:ext cx="4572000" cy="1097280"/>
          </a:xfrm>
          <a:prstGeom prst="round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5074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Request a Demo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DBFE"/>
                </a:solidFill>
                <a:latin typeface="Calibri"/>
              </a:defRPr>
            </a:pPr>
            <a:r>
              <a:t>contact@covenantsynergy.com  |  www.edutrack.app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© 2026 Covenant Synergy Private Limited.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