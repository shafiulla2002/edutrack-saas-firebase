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FFFFF"/>
                </a:solidFill>
                <a:latin typeface="Arial"/>
              </a:defRPr>
            </a:pPr>
            <a:r>
              <a:t>EduTrack School ERP</a:t>
            </a:r>
          </a:p>
          <a:p>
            <a:pPr>
              <a:defRPr sz="1900" b="1">
                <a:solidFill>
                  <a:srgbClr val="2563EB"/>
                </a:solidFill>
                <a:latin typeface="Arial"/>
              </a:defRPr>
            </a:pPr>
            <a:r>
              <a:t>Complete Multi-Tenant School ERP &amp; Operations Management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8229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Version:  </a:t>
            </a:r>
            <a:r>
              <a:rPr b="0">
                <a:solidFill>
                  <a:srgbClr val="FFFFFF"/>
                </a:solidFill>
                <a:latin typeface="Arial"/>
              </a:rPr>
              <a:t>1.0.0 Stable Release</a:t>
            </a:r>
          </a:p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Database Engine:  </a:t>
            </a:r>
            <a:r>
              <a:rPr b="0">
                <a:solidFill>
                  <a:srgbClr val="FFFFFF"/>
                </a:solidFill>
                <a:latin typeface="Arial"/>
              </a:rPr>
              <a:t>AWS RDS PostgreSQL v15</a:t>
            </a:r>
          </a:p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Configured Branding:  </a:t>
            </a:r>
            <a:r>
              <a:rPr b="0">
                <a:solidFill>
                  <a:srgbClr val="FFFFFF"/>
                </a:solidFill>
                <a:latin typeface="Arial"/>
              </a:rPr>
              <a:t>Oakridge International School</a:t>
            </a:r>
          </a:p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Prepared By:  </a:t>
            </a:r>
            <a:r>
              <a:rPr b="0">
                <a:solidFill>
                  <a:srgbClr val="FFFFFF"/>
                </a:solidFill>
                <a:latin typeface="Arial"/>
              </a:rPr>
              <a:t>Covenant Synergy Private Limited</a:t>
            </a:r>
          </a:p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Date:  </a:t>
            </a:r>
            <a:r>
              <a:rPr b="0">
                <a:solidFill>
                  <a:srgbClr val="FFFFFF"/>
                </a:solidFill>
                <a:latin typeface="Arial"/>
              </a:rPr>
              <a:t>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rial"/>
              </a:defRPr>
            </a:pPr>
            <a:r>
              <a:t>EduTrack School Management System  •  Powered by Covenant Synergy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4652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Arial"/>
              </a:defRPr>
            </a:pPr>
            <a:r>
              <a:t>1 / 37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68680" y="1920240"/>
            <a:ext cx="109728" cy="2651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34440" y="1920240"/>
            <a:ext cx="102412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Arial"/>
              </a:defRPr>
            </a:pPr>
            <a:r>
              <a:t>PART I</a:t>
            </a:r>
          </a:p>
          <a:p>
            <a:pPr>
              <a:defRPr sz="1800" b="1">
                <a:solidFill>
                  <a:srgbClr val="2563EB"/>
                </a:solidFill>
                <a:latin typeface="Arial"/>
              </a:defRPr>
            </a:pPr>
            <a:r>
              <a:t>Project Overview &amp; Application Setup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rial"/>
              </a:defRPr>
            </a:pPr>
            <a:r>
              <a:t>EduTrack School Management System  •  Powered by Covenant Synergy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4652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Arial"/>
              </a:defRPr>
            </a:pPr>
            <a:r>
              <a:t>2 / 37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rial"/>
              </a:defRPr>
            </a:pPr>
            <a:r>
              <a:t>EDUTRACK ERP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6984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Project Overview &amp; Core Objective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15568"/>
            <a:ext cx="1069848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120640" cy="5074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164592" rtlCol="0" anchor="ctr"/>
          <a:lstStyle/>
          <a:p>
            <a:pPr algn="ctr">
              <a:defRPr sz="1600" b="1">
                <a:solidFill>
                  <a:srgbClr val="2563EB"/>
                </a:solidFill>
                <a:latin typeface="Arial"/>
              </a:defRPr>
            </a:pPr>
            <a:r>
              <a:t>SaaS Capabilities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Concept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Multi-tenant cloud ERP designed to scale across hundreds of schools with full data isolation.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Core Goal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Eliminate admin overhead, secure financial records, and deliver fast academic performance insights.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Frontend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Next.js 14, Tailwind CSS, Axios REST client, Framer Motion transitions.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Backend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NestJS, Prisma ORM, JWT auth, AWS S3, PostgreSQL on RDS.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Infrastructure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AWS RDS, EC2, wildcard subdomain resolver via Route 53, Vercel CDN.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64008" cy="5074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166360" cy="5074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164592" rtlCol="0" anchor="ctr"/>
          <a:lstStyle/>
          <a:p>
            <a:pPr algn="ctr">
              <a:defRPr sz="1600" b="1">
                <a:solidFill>
                  <a:srgbClr val="2563EB"/>
                </a:solidFill>
                <a:latin typeface="Arial"/>
              </a:defRPr>
            </a:pPr>
            <a:r>
              <a:t>Infrastructure Architecture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Subdomain Routing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Route 53 maps [school].domain → tenant context. Next.js resolves via headers.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Tenant Isolation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NestJS interceptors enforce tenantId on every DB query — zero data leakage.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Connection Pools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Prisma connection pools prevent AWS RDS exhaustion under concurrent load.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Security &amp; JWT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9999-day JWT for persistent dev sessions. Production uses rotating signed tokens.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64008" cy="5074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rial"/>
              </a:defRPr>
            </a:pPr>
            <a:r>
              <a:t>EduTrack School Management System  •  Powered by Covenant Synergy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4652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Arial"/>
              </a:defRPr>
            </a:pPr>
            <a:r>
              <a:t>3 / 37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rial"/>
              </a:defRPr>
            </a:pPr>
            <a:r>
              <a:t>EDUTRACK ERP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6984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Core Application Workflow &amp; Setup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15568"/>
            <a:ext cx="1069848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207008"/>
            <a:ext cx="1069848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64592" rtlCol="0" anchor="ctr"/>
          <a:lstStyle/>
          <a:p>
            <a:pPr algn="ctr">
              <a:defRPr sz="1050">
                <a:solidFill>
                  <a:srgbClr val="64748B"/>
                </a:solidFill>
                <a:latin typeface="Arial"/>
              </a:defRPr>
            </a:pPr>
            <a:r>
              <a:t>EduTrack requires a structured setup order: Academic Year → Classes → Subjects → Teachers → Fee Books → Student Admission. Foreign key dependencies must be satisfied before onboarding.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2450592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E293B"/>
                </a:solidFill>
                <a:latin typeface="Arial"/>
              </a:defRPr>
            </a:pPr>
            <a:r>
              <a:t>1. Auth / Login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03120"/>
            <a:ext cx="64008" cy="8412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465576" y="2103120"/>
            <a:ext cx="2450592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E293B"/>
                </a:solidFill>
                <a:latin typeface="Arial"/>
              </a:defRPr>
            </a:pPr>
            <a:r>
              <a:t>2. School Settings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65576" y="2103120"/>
            <a:ext cx="64008" cy="8412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99632" y="2103120"/>
            <a:ext cx="2450592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E293B"/>
                </a:solidFill>
                <a:latin typeface="Arial"/>
              </a:defRPr>
            </a:pPr>
            <a:r>
              <a:t>3. Academic Year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9632" y="2103120"/>
            <a:ext cx="64008" cy="8412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933688" y="2103120"/>
            <a:ext cx="2450592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E293B"/>
                </a:solidFill>
                <a:latin typeface="Arial"/>
              </a:defRPr>
            </a:pPr>
            <a:r>
              <a:t>4. Classes &amp; Sections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33688" y="2103120"/>
            <a:ext cx="64008" cy="8412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31520" y="3291840"/>
            <a:ext cx="2450592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E293B"/>
                </a:solidFill>
                <a:latin typeface="Arial"/>
              </a:defRPr>
            </a:pPr>
            <a:r>
              <a:t>5. Subjects Setup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291840"/>
            <a:ext cx="64008" cy="8412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465576" y="3291840"/>
            <a:ext cx="2450592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E293B"/>
                </a:solidFill>
                <a:latin typeface="Arial"/>
              </a:defRPr>
            </a:pPr>
            <a:r>
              <a:t>6. Teacher Roster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65576" y="3291840"/>
            <a:ext cx="64008" cy="8412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99632" y="3291840"/>
            <a:ext cx="2450592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E293B"/>
                </a:solidFill>
                <a:latin typeface="Arial"/>
              </a:defRPr>
            </a:pPr>
            <a:r>
              <a:t>7. Fee Setup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9632" y="3291840"/>
            <a:ext cx="64008" cy="8412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933688" y="3291840"/>
            <a:ext cx="2450592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E293B"/>
                </a:solidFill>
                <a:latin typeface="Arial"/>
              </a:defRPr>
            </a:pPr>
            <a:r>
              <a:t>8. Student Admission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33688" y="3291840"/>
            <a:ext cx="64008" cy="8412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31520" y="4480560"/>
            <a:ext cx="2450592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E293B"/>
                </a:solidFill>
                <a:latin typeface="Arial"/>
              </a:defRPr>
            </a:pPr>
            <a:r>
              <a:t>9. Timetables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480560"/>
            <a:ext cx="64008" cy="8412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465576" y="4480560"/>
            <a:ext cx="2450592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E293B"/>
                </a:solidFill>
                <a:latin typeface="Arial"/>
              </a:defRPr>
            </a:pPr>
            <a:r>
              <a:t>10. Attendance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65576" y="4480560"/>
            <a:ext cx="64008" cy="8412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199632" y="4480560"/>
            <a:ext cx="2450592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E293B"/>
                </a:solidFill>
                <a:latin typeface="Arial"/>
              </a:defRPr>
            </a:pPr>
            <a:r>
              <a:t>11. Enter Marks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99632" y="4480560"/>
            <a:ext cx="64008" cy="8412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933688" y="4480560"/>
            <a:ext cx="2450592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E293B"/>
                </a:solidFill>
                <a:latin typeface="Arial"/>
              </a:defRPr>
            </a:pPr>
            <a:r>
              <a:t>12. Reports &amp; Cards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33688" y="4480560"/>
            <a:ext cx="64008" cy="8412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644652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rial"/>
              </a:defRPr>
            </a:pPr>
            <a:r>
              <a:t>EduTrack School Management System  •  Powered by Covenant Synergy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644652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Arial"/>
              </a:defRPr>
            </a:pPr>
            <a:r>
              <a:t>4 / 37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68680" y="1920240"/>
            <a:ext cx="109728" cy="2651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34440" y="1920240"/>
            <a:ext cx="102412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Arial"/>
              </a:defRPr>
            </a:pPr>
            <a:r>
              <a:t>PART II</a:t>
            </a:r>
          </a:p>
          <a:p>
            <a:pPr>
              <a:defRPr sz="1800" b="1">
                <a:solidFill>
                  <a:srgbClr val="2563EB"/>
                </a:solidFill>
                <a:latin typeface="Arial"/>
              </a:defRPr>
            </a:pPr>
            <a:r>
              <a:t>Functional Modules Walkthrough &amp; Live Screenshots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rial"/>
              </a:defRPr>
            </a:pPr>
            <a:r>
              <a:t>EduTrack School Management System  •  Powered by Covenant Synergy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4652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Arial"/>
              </a:defRPr>
            </a:pPr>
            <a:r>
              <a:t>5 / 37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rial"/>
              </a:defRPr>
            </a:pPr>
            <a:r>
              <a:t>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6984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Interactive Operations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15568"/>
            <a:ext cx="1069848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207008"/>
            <a:ext cx="507492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164592" rtlCol="0" anchor="ctr"/>
          <a:lstStyle/>
          <a:p>
            <a:pPr algn="ctr">
              <a:defRPr sz="1600" b="1">
                <a:solidFill>
                  <a:srgbClr val="2563EB"/>
                </a:solidFill>
                <a:latin typeface="Arial"/>
              </a:defRPr>
            </a:pPr>
            <a:r>
              <a:t>Dashboard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Purpose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High-level operational overview of school metrics, financials, and headcount.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Key Features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Real-time KPIs: 50 students, 7 teachers, cashflow charts, quick-actions.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Business Benefits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Instantly spot pending tasks, outstanding invoices, and attendance rates at a glance.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07008"/>
            <a:ext cx="64008" cy="5120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63640" y="1207008"/>
            <a:ext cx="516636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207008"/>
            <a:ext cx="5166360" cy="2377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373368" y="1261872"/>
            <a:ext cx="73152" cy="73152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64807" y="1261872"/>
            <a:ext cx="73152" cy="7315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556248" y="1261872"/>
            <a:ext cx="73152" cy="7315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928" y="1453896"/>
            <a:ext cx="5148072" cy="4251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" y="644652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rial"/>
              </a:defRPr>
            </a:pPr>
            <a:r>
              <a:t>EduTrack School Management System  •  Powered by Covenant Synergy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44652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Arial"/>
              </a:defRPr>
            </a:pPr>
            <a:r>
              <a:t>6 / 37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rial"/>
              </a:defRPr>
            </a:pPr>
            <a:r>
              <a:t>SCHOOL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6984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Onboarding &amp; Checklist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15568"/>
            <a:ext cx="1069848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207008"/>
            <a:ext cx="507492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164592" rtlCol="0" anchor="ctr"/>
          <a:lstStyle/>
          <a:p>
            <a:pPr algn="ctr">
              <a:defRPr sz="1600" b="1">
                <a:solidFill>
                  <a:srgbClr val="2563EB"/>
                </a:solidFill>
                <a:latin typeface="Arial"/>
              </a:defRPr>
            </a:pPr>
            <a:r>
              <a:t>School Setup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Purpose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Step-by-step wizard guiding admins through core configuration before student enrollment.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Key Features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Visual checklist for Academic Year, Section Mapping, Schedules, Subjects, and Billing setup.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Business Benefits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Ensures no FK dependencies are missed during onboarding — prevents system errors.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07008"/>
            <a:ext cx="64008" cy="5120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63640" y="1207008"/>
            <a:ext cx="516636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207008"/>
            <a:ext cx="5166360" cy="2377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373368" y="1261872"/>
            <a:ext cx="73152" cy="73152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64807" y="1261872"/>
            <a:ext cx="73152" cy="7315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556248" y="1261872"/>
            <a:ext cx="73152" cy="7315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school_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784" y="1453896"/>
            <a:ext cx="5148072" cy="4251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" y="644652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rial"/>
              </a:defRPr>
            </a:pPr>
            <a:r>
              <a:t>EduTrack School Management System  •  Powered by Covenant Synergy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44652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Arial"/>
              </a:defRPr>
            </a:pPr>
            <a:r>
              <a:t>7 / 37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rial"/>
              </a:defRPr>
            </a:pPr>
            <a:r>
              <a:t>SETTINGS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6984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System Parameters Configuration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15568"/>
            <a:ext cx="1069848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207008"/>
            <a:ext cx="507492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164592" rtlCol="0" anchor="ctr"/>
          <a:lstStyle/>
          <a:p>
            <a:pPr algn="ctr">
              <a:defRPr sz="1600" b="1">
                <a:solidFill>
                  <a:srgbClr val="2563EB"/>
                </a:solidFill>
                <a:latin typeface="Arial"/>
              </a:defRPr>
            </a:pPr>
            <a:r>
              <a:t>Settings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Purpose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Manage global metadata: school contact info, default term, and active academic year.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Key Features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Tenancy details, address config, interactive state controls, and theme properties.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Business Benefits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Branding metadata flows to receipt layouts, login screens, and report cards dynamically.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07008"/>
            <a:ext cx="64008" cy="5120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63640" y="1207008"/>
            <a:ext cx="516636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207008"/>
            <a:ext cx="5166360" cy="2377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373368" y="1261872"/>
            <a:ext cx="73152" cy="73152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64807" y="1261872"/>
            <a:ext cx="73152" cy="7315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556248" y="1261872"/>
            <a:ext cx="73152" cy="7315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784" y="1453896"/>
            <a:ext cx="5148072" cy="4251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" y="644652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rial"/>
              </a:defRPr>
            </a:pPr>
            <a:r>
              <a:t>EduTrack School Management System  •  Powered by Covenant Synergy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44652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Arial"/>
              </a:defRPr>
            </a:pPr>
            <a:r>
              <a:t>8 / 37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rial"/>
              </a:defRPr>
            </a:pPr>
            <a:r>
              <a:t>TEACHERS &amp; CLASSES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6984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Academic Architecture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15568"/>
            <a:ext cx="1069848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207008"/>
            <a:ext cx="507492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164592" rtlCol="0" anchor="ctr"/>
          <a:lstStyle/>
          <a:p>
            <a:pPr algn="ctr">
              <a:defRPr sz="1600" b="1">
                <a:solidFill>
                  <a:srgbClr val="2563EB"/>
                </a:solidFill>
                <a:latin typeface="Arial"/>
              </a:defRPr>
            </a:pPr>
            <a:r>
              <a:t>Teachers &amp; Classes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Purpose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Configure classes (Grade 1–5) and map their sections and subjects.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Key Features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Class creator forms, section mappings, subject lists, and teacher workload indicators.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Business Benefits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Builds the foundational hierarchy driving attendance sheets and exam mark templates.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07008"/>
            <a:ext cx="64008" cy="5120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63640" y="1207008"/>
            <a:ext cx="516636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207008"/>
            <a:ext cx="5166360" cy="2377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373368" y="1261872"/>
            <a:ext cx="73152" cy="73152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64807" y="1261872"/>
            <a:ext cx="73152" cy="7315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556248" y="1261872"/>
            <a:ext cx="73152" cy="7315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teachers_cl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784" y="1453896"/>
            <a:ext cx="5148072" cy="4251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" y="644652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rial"/>
              </a:defRPr>
            </a:pPr>
            <a:r>
              <a:t>EduTrack School Management System  •  Powered by Covenant Synergy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44652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Arial"/>
              </a:defRPr>
            </a:pPr>
            <a:r>
              <a:t>9 / 37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rial"/>
              </a:defRPr>
            </a:pPr>
            <a:r>
              <a:t>STAFF DIRECTORY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6984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Staff &amp; Teacher Registry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15568"/>
            <a:ext cx="1069848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207008"/>
            <a:ext cx="507492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164592" rtlCol="0" anchor="ctr"/>
          <a:lstStyle/>
          <a:p>
            <a:pPr algn="ctr">
              <a:defRPr sz="1600" b="1">
                <a:solidFill>
                  <a:srgbClr val="2563EB"/>
                </a:solidFill>
                <a:latin typeface="Arial"/>
              </a:defRPr>
            </a:pPr>
            <a:r>
              <a:t>Staff Directory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Purpose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Track staff profiles, qualifications, contact details, and workload parameters.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Key Features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Individual teacher records, email/phone details, filters, and new record triggers.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Business Benefits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Automates schedule mapping, substitute allocation, and salary disbursements.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07008"/>
            <a:ext cx="64008" cy="5120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63640" y="1207008"/>
            <a:ext cx="516636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207008"/>
            <a:ext cx="5166360" cy="2377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373368" y="1261872"/>
            <a:ext cx="73152" cy="73152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64807" y="1261872"/>
            <a:ext cx="73152" cy="7315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556248" y="1261872"/>
            <a:ext cx="73152" cy="7315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sta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784" y="1453896"/>
            <a:ext cx="5148072" cy="4251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" y="644652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rial"/>
              </a:defRPr>
            </a:pPr>
            <a:r>
              <a:t>EduTrack School Management System  •  Powered by Covenant Synergy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44652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Arial"/>
              </a:defRPr>
            </a:pPr>
            <a:r>
              <a:t>10 / 37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rial"/>
              </a:defRPr>
            </a:pPr>
            <a:r>
              <a:t>STUDENTS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6984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Student Directory &amp; Roster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15568"/>
            <a:ext cx="1069848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207008"/>
            <a:ext cx="507492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164592" rtlCol="0" anchor="ctr"/>
          <a:lstStyle/>
          <a:p>
            <a:pPr algn="ctr">
              <a:defRPr sz="1600" b="1">
                <a:solidFill>
                  <a:srgbClr val="2563EB"/>
                </a:solidFill>
                <a:latin typeface="Arial"/>
              </a:defRPr>
            </a:pPr>
            <a:r>
              <a:t>Students Management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Purpose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Central search matrix for active student profiles, roll numbers, and class assignments.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Key Features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Bulk deletion, student creation triggers, class filters, search bars, parent link details.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Business Benefits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Quick record access reduces search overhead — fee books and report cards one click away.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07008"/>
            <a:ext cx="64008" cy="5120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63640" y="1207008"/>
            <a:ext cx="516636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207008"/>
            <a:ext cx="5166360" cy="2377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373368" y="1261872"/>
            <a:ext cx="73152" cy="73152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64807" y="1261872"/>
            <a:ext cx="73152" cy="7315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556248" y="1261872"/>
            <a:ext cx="73152" cy="7315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stud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784" y="1453896"/>
            <a:ext cx="5148072" cy="4251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" y="644652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rial"/>
              </a:defRPr>
            </a:pPr>
            <a:r>
              <a:t>EduTrack School Management System  •  Powered by Covenant Synergy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44652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Arial"/>
              </a:defRPr>
            </a:pPr>
            <a:r>
              <a:t>11 / 37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rial"/>
              </a:defRPr>
            </a:pPr>
            <a:r>
              <a:t>NEW ADMISSION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6984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New Admission Onboarding 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15568"/>
            <a:ext cx="1069848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207008"/>
            <a:ext cx="507492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164592" rtlCol="0" anchor="ctr"/>
          <a:lstStyle/>
          <a:p>
            <a:pPr algn="ctr">
              <a:defRPr sz="1600" b="1">
                <a:solidFill>
                  <a:srgbClr val="2563EB"/>
                </a:solidFill>
                <a:latin typeface="Arial"/>
              </a:defRPr>
            </a:pPr>
            <a:r>
              <a:t>New Admission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Purpose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Streamline new enrollment: auto-generate roll numbers and link parent credentials.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Key Features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Student details form, roll-number generator, parent phone mapper, class assignment.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Business Benefits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Prevents duplicates. Auto-links parents and students under the correct class structure.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07008"/>
            <a:ext cx="64008" cy="5120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63640" y="1207008"/>
            <a:ext cx="516636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207008"/>
            <a:ext cx="5166360" cy="2377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373368" y="1261872"/>
            <a:ext cx="73152" cy="73152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64807" y="1261872"/>
            <a:ext cx="73152" cy="7315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556248" y="1261872"/>
            <a:ext cx="73152" cy="7315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new_admi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784" y="1453896"/>
            <a:ext cx="5148072" cy="4251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" y="644652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rial"/>
              </a:defRPr>
            </a:pPr>
            <a:r>
              <a:t>EduTrack School Management System  •  Powered by Covenant Synergy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44652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Arial"/>
              </a:defRPr>
            </a:pPr>
            <a:r>
              <a:t>12 / 37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rial"/>
              </a:defRPr>
            </a:pPr>
            <a:r>
              <a:t>BILLING FEES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6984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Fee Particulars &amp; Invoice Ledger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15568"/>
            <a:ext cx="1069848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207008"/>
            <a:ext cx="507492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164592" rtlCol="0" anchor="ctr"/>
          <a:lstStyle/>
          <a:p>
            <a:pPr algn="ctr">
              <a:defRPr sz="1600" b="1">
                <a:solidFill>
                  <a:srgbClr val="2563EB"/>
                </a:solidFill>
                <a:latin typeface="Arial"/>
              </a:defRPr>
            </a:pPr>
            <a:r>
              <a:t>Billing Fees Matrix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Purpose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Manage invoice tracking, collections, and outstanding dues — ₹599,997 collected to date.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Key Features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Invoice list, PAID/PENDING status badges, student links, amounts, void triggers.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Business Benefits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Transparent cash ledger lets operators track paid fees and flag overdue accounts.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07008"/>
            <a:ext cx="64008" cy="5120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63640" y="1207008"/>
            <a:ext cx="516636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207008"/>
            <a:ext cx="5166360" cy="2377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373368" y="1261872"/>
            <a:ext cx="73152" cy="73152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64807" y="1261872"/>
            <a:ext cx="73152" cy="7315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556248" y="1261872"/>
            <a:ext cx="73152" cy="7315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billing_fe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784" y="1453896"/>
            <a:ext cx="5148072" cy="4251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" y="644652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rial"/>
              </a:defRPr>
            </a:pPr>
            <a:r>
              <a:t>EduTrack School Management System  •  Powered by Covenant Synergy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44652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Arial"/>
              </a:defRPr>
            </a:pPr>
            <a:r>
              <a:t>13 / 37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rial"/>
              </a:defRPr>
            </a:pPr>
            <a:r>
              <a:t>PARENTS REGISTRY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6984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Parent Credentials Manager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15568"/>
            <a:ext cx="1069848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207008"/>
            <a:ext cx="507492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164592" rtlCol="0" anchor="ctr"/>
          <a:lstStyle/>
          <a:p>
            <a:pPr algn="ctr">
              <a:defRPr sz="1600" b="1">
                <a:solidFill>
                  <a:srgbClr val="2563EB"/>
                </a:solidFill>
                <a:latin typeface="Arial"/>
              </a:defRPr>
            </a:pPr>
            <a:r>
              <a:t>Parents Registry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Purpose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Manage guardian contacts and map multiple siblings to one parent portal login.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Key Features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Parent name, phone, email, active status controls, and linked children list.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Business Benefits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One login credential for parents to view reports and fees for all their children.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07008"/>
            <a:ext cx="64008" cy="5120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63640" y="1207008"/>
            <a:ext cx="516636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207008"/>
            <a:ext cx="5166360" cy="2377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373368" y="1261872"/>
            <a:ext cx="73152" cy="73152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64807" y="1261872"/>
            <a:ext cx="73152" cy="7315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556248" y="1261872"/>
            <a:ext cx="73152" cy="7315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par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784" y="1453896"/>
            <a:ext cx="5148072" cy="4251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" y="644652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rial"/>
              </a:defRPr>
            </a:pPr>
            <a:r>
              <a:t>EduTrack School Management System  •  Powered by Covenant Synergy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44652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Arial"/>
              </a:defRPr>
            </a:pPr>
            <a:r>
              <a:t>14 / 37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rial"/>
              </a:defRPr>
            </a:pPr>
            <a:r>
              <a:t>PROMOTIONS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6984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Student Term Promotions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15568"/>
            <a:ext cx="1069848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207008"/>
            <a:ext cx="507492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164592" rtlCol="0" anchor="ctr"/>
          <a:lstStyle/>
          <a:p>
            <a:pPr algn="ctr">
              <a:defRPr sz="1600" b="1">
                <a:solidFill>
                  <a:srgbClr val="2563EB"/>
                </a:solidFill>
                <a:latin typeface="Arial"/>
              </a:defRPr>
            </a:pPr>
            <a:r>
              <a:t>Promotions Engine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Purpose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Promote students to the next grade upon completing the academic year.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Key Features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Source class filters, target selectors, candidate list, and bulk processing engine.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Business Benefits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Clean term transitions — historical records stay intact under the previous academic year.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07008"/>
            <a:ext cx="64008" cy="5120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63640" y="1207008"/>
            <a:ext cx="516636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207008"/>
            <a:ext cx="5166360" cy="2377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373368" y="1261872"/>
            <a:ext cx="73152" cy="73152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64807" y="1261872"/>
            <a:ext cx="73152" cy="7315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556248" y="1261872"/>
            <a:ext cx="73152" cy="7315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promo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784" y="1453896"/>
            <a:ext cx="5148072" cy="4251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" y="644652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rial"/>
              </a:defRPr>
            </a:pPr>
            <a:r>
              <a:t>EduTrack School Management System  •  Powered by Covenant Synergy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44652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Arial"/>
              </a:defRPr>
            </a:pPr>
            <a:r>
              <a:t>15 / 37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rial"/>
              </a:defRPr>
            </a:pPr>
            <a:r>
              <a:t>ATTENDANCE REGISTRY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6984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Daily Attendance Tracking Panel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15568"/>
            <a:ext cx="1069848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207008"/>
            <a:ext cx="507492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164592" rtlCol="0" anchor="ctr"/>
          <a:lstStyle/>
          <a:p>
            <a:pPr algn="ctr">
              <a:defRPr sz="1600" b="1">
                <a:solidFill>
                  <a:srgbClr val="2563EB"/>
                </a:solidFill>
                <a:latin typeface="Arial"/>
              </a:defRPr>
            </a:pPr>
            <a:r>
              <a:t>Attendance Registry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Purpose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Log daily attendance and compile monthly metrics — 80% average rate.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Key Features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Class-wise registers, present/absent counts, date pickers, and attendance statistics.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Business Benefits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Teachers log attendance in under 30 seconds with immediate portal updates.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07008"/>
            <a:ext cx="64008" cy="5120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63640" y="1207008"/>
            <a:ext cx="516636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207008"/>
            <a:ext cx="5166360" cy="2377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373368" y="1261872"/>
            <a:ext cx="73152" cy="73152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64807" y="1261872"/>
            <a:ext cx="73152" cy="7315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556248" y="1261872"/>
            <a:ext cx="73152" cy="7315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attend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784" y="1453896"/>
            <a:ext cx="5148072" cy="4251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" y="644652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rial"/>
              </a:defRPr>
            </a:pPr>
            <a:r>
              <a:t>EduTrack School Management System  •  Powered by Covenant Synergy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44652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Arial"/>
              </a:defRPr>
            </a:pPr>
            <a:r>
              <a:t>16 / 37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rial"/>
              </a:defRPr>
            </a:pPr>
            <a:r>
              <a:t>GRADES &amp;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6984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Academics Grading &amp; Report Cards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15568"/>
            <a:ext cx="1069848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207008"/>
            <a:ext cx="507492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164592" rtlCol="0" anchor="ctr"/>
          <a:lstStyle/>
          <a:p>
            <a:pPr algn="ctr">
              <a:defRPr sz="1600" b="1">
                <a:solidFill>
                  <a:srgbClr val="2563EB"/>
                </a:solidFill>
                <a:latin typeface="Arial"/>
              </a:defRPr>
            </a:pPr>
            <a:r>
              <a:t>Grades &amp; Reports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Purpose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Review subject-wise performance averages, thresholds, and academic standings.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Key Features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Student averages, top-student rankings, class-wise reports, and print/export utility.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Business Benefits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Teachers analyse trends and print customised grade reports with one click.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07008"/>
            <a:ext cx="64008" cy="5120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63640" y="1207008"/>
            <a:ext cx="516636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207008"/>
            <a:ext cx="5166360" cy="2377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373368" y="1261872"/>
            <a:ext cx="73152" cy="73152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64807" y="1261872"/>
            <a:ext cx="73152" cy="7315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556248" y="1261872"/>
            <a:ext cx="73152" cy="7315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gra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784" y="1453896"/>
            <a:ext cx="5148072" cy="4251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" y="644652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rial"/>
              </a:defRPr>
            </a:pPr>
            <a:r>
              <a:t>EduTrack School Management System  •  Powered by Covenant Synergy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44652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Arial"/>
              </a:defRPr>
            </a:pPr>
            <a:r>
              <a:t>17 / 37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rial"/>
              </a:defRPr>
            </a:pPr>
            <a:r>
              <a:t>MARKS ENTRY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6984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Exam Marks Entry Portal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15568"/>
            <a:ext cx="1069848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207008"/>
            <a:ext cx="507492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164592" rtlCol="0" anchor="ctr"/>
          <a:lstStyle/>
          <a:p>
            <a:pPr algn="ctr">
              <a:defRPr sz="1600" b="1">
                <a:solidFill>
                  <a:srgbClr val="2563EB"/>
                </a:solidFill>
                <a:latin typeface="Arial"/>
              </a:defRPr>
            </a:pPr>
            <a:r>
              <a:t>Marks Entry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Purpose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Enter test marks directly into the database for selected exams and subjects.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Key Features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Class filters, subject dropdowns, exam-type selectors, inline student marks grid.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Business Benefits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Eliminates spreadsheets — marks are saved instantly and auto-feed grade card calculations.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07008"/>
            <a:ext cx="64008" cy="5120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63640" y="1207008"/>
            <a:ext cx="516636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207008"/>
            <a:ext cx="5166360" cy="2377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373368" y="1261872"/>
            <a:ext cx="73152" cy="73152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64807" y="1261872"/>
            <a:ext cx="73152" cy="7315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556248" y="1261872"/>
            <a:ext cx="73152" cy="7315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exams_ma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784" y="1453896"/>
            <a:ext cx="5148072" cy="4251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" y="644652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rial"/>
              </a:defRPr>
            </a:pPr>
            <a:r>
              <a:t>EduTrack School Management System  •  Powered by Covenant Synergy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44652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Arial"/>
              </a:defRPr>
            </a:pPr>
            <a:r>
              <a:t>18 / 37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rial"/>
              </a:defRPr>
            </a:pPr>
            <a:r>
              <a:t>BILLING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6984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Fee Price Books Configuration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15568"/>
            <a:ext cx="1069848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207008"/>
            <a:ext cx="507492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164592" rtlCol="0" anchor="ctr"/>
          <a:lstStyle/>
          <a:p>
            <a:pPr algn="ctr">
              <a:defRPr sz="1600" b="1">
                <a:solidFill>
                  <a:srgbClr val="2563EB"/>
                </a:solidFill>
                <a:latin typeface="Arial"/>
              </a:defRPr>
            </a:pPr>
            <a:r>
              <a:t>Billing Setup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Purpose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Create fee categories (Tuition, Transport, etc.) and group them into class price books.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Key Features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Product catalogs, price-book templates, amount configs, and billing frequency settings.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Business Benefits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Dynamic fee assignment: operators map specific price books to target student classes.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07008"/>
            <a:ext cx="64008" cy="5120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63640" y="1207008"/>
            <a:ext cx="516636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207008"/>
            <a:ext cx="5166360" cy="2377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373368" y="1261872"/>
            <a:ext cx="73152" cy="73152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64807" y="1261872"/>
            <a:ext cx="73152" cy="7315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556248" y="1261872"/>
            <a:ext cx="73152" cy="7315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billing_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784" y="1453896"/>
            <a:ext cx="5148072" cy="4251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" y="644652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rial"/>
              </a:defRPr>
            </a:pPr>
            <a:r>
              <a:t>EduTrack School Management System  •  Powered by Covenant Synergy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44652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Arial"/>
              </a:defRPr>
            </a:pPr>
            <a:r>
              <a:t>19 / 37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rial"/>
              </a:defRPr>
            </a:pPr>
            <a:r>
              <a:t>EXPENSE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6984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School Expense Tracker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15568"/>
            <a:ext cx="1069848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207008"/>
            <a:ext cx="507492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164592" rtlCol="0" anchor="ctr"/>
          <a:lstStyle/>
          <a:p>
            <a:pPr algn="ctr">
              <a:defRPr sz="1600" b="1">
                <a:solidFill>
                  <a:srgbClr val="2563EB"/>
                </a:solidFill>
                <a:latin typeface="Arial"/>
              </a:defRPr>
            </a:pPr>
            <a:r>
              <a:t>Expense Management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Purpose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Track institutional expenditures: operational costs, salaries, and utility bills.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Key Features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Expense logs, descriptions, status dropdowns (APPROVED/PENDING), and category tags.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Business Benefits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Budget controls: expense cashflows mapped directly against collected school fees.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07008"/>
            <a:ext cx="64008" cy="5120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63640" y="1207008"/>
            <a:ext cx="516636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207008"/>
            <a:ext cx="5166360" cy="2377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373368" y="1261872"/>
            <a:ext cx="73152" cy="73152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64807" y="1261872"/>
            <a:ext cx="73152" cy="7315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556248" y="1261872"/>
            <a:ext cx="73152" cy="7315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expen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784" y="1453896"/>
            <a:ext cx="5148072" cy="4251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" y="644652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rial"/>
              </a:defRPr>
            </a:pPr>
            <a:r>
              <a:t>EduTrack School Management System  •  Powered by Covenant Synergy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44652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Arial"/>
              </a:defRPr>
            </a:pPr>
            <a:r>
              <a:t>20 / 37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rial"/>
              </a:defRPr>
            </a:pPr>
            <a:r>
              <a:t>COMPLAINT 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6984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Behavioural Case &amp; Complaint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15568"/>
            <a:ext cx="1069848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207008"/>
            <a:ext cx="507492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164592" rtlCol="0" anchor="ctr"/>
          <a:lstStyle/>
          <a:p>
            <a:pPr algn="ctr">
              <a:defRPr sz="1600" b="1">
                <a:solidFill>
                  <a:srgbClr val="2563EB"/>
                </a:solidFill>
                <a:latin typeface="Arial"/>
              </a:defRPr>
            </a:pPr>
            <a:r>
              <a:t>Complaint Box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Purpose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Log behavioural incidents, complaints, and disciplinary records per student.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Key Features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Incident forms, student links, descriptions, PENDING/CLOSED badges, severity tags.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Business Benefits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Maintains clear behaviour history so parents and teachers can act collaboratively.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07008"/>
            <a:ext cx="64008" cy="5120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63640" y="1207008"/>
            <a:ext cx="516636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207008"/>
            <a:ext cx="5166360" cy="2377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373368" y="1261872"/>
            <a:ext cx="73152" cy="73152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64807" y="1261872"/>
            <a:ext cx="73152" cy="7315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556248" y="1261872"/>
            <a:ext cx="73152" cy="7315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complaint_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784" y="1453896"/>
            <a:ext cx="5148072" cy="4251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" y="644652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rial"/>
              </a:defRPr>
            </a:pPr>
            <a:r>
              <a:t>EduTrack School Management System  •  Powered by Covenant Synergy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44652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Arial"/>
              </a:defRPr>
            </a:pPr>
            <a:r>
              <a:t>21 / 37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rial"/>
              </a:defRPr>
            </a:pPr>
            <a:r>
              <a:t>LIBRARY DIRECTORY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6984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Library Books &amp; Loans Directory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15568"/>
            <a:ext cx="1069848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207008"/>
            <a:ext cx="507492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164592" rtlCol="0" anchor="ctr"/>
          <a:lstStyle/>
          <a:p>
            <a:pPr algn="ctr">
              <a:defRPr sz="1600" b="1">
                <a:solidFill>
                  <a:srgbClr val="2563EB"/>
                </a:solidFill>
                <a:latin typeface="Arial"/>
              </a:defRPr>
            </a:pPr>
            <a:r>
              <a:t>Library Directory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Purpose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Manage book inventories, issue logs, and late-return fine calculations.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Key Features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Book titles, ISBN/barcode identifiers, copy counters, and borrow-log checklists.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Business Benefits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Reduces lost books, automates renewal schedules, and coordinates copy availability.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07008"/>
            <a:ext cx="64008" cy="5120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63640" y="1207008"/>
            <a:ext cx="516636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207008"/>
            <a:ext cx="5166360" cy="2377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373368" y="1261872"/>
            <a:ext cx="73152" cy="73152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64807" y="1261872"/>
            <a:ext cx="73152" cy="7315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556248" y="1261872"/>
            <a:ext cx="73152" cy="7315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libr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784" y="1453896"/>
            <a:ext cx="5148072" cy="4251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" y="644652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rial"/>
              </a:defRPr>
            </a:pPr>
            <a:r>
              <a:t>EduTrack School Management System  •  Powered by Covenant Synergy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44652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Arial"/>
              </a:defRPr>
            </a:pPr>
            <a:r>
              <a:t>22 / 37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rial"/>
              </a:defRPr>
            </a:pPr>
            <a:r>
              <a:t>NOTIFICATIONS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6984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Communications &amp; Notification Dispatch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15568"/>
            <a:ext cx="1069848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207008"/>
            <a:ext cx="507492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164592" rtlCol="0" anchor="ctr"/>
          <a:lstStyle/>
          <a:p>
            <a:pPr algn="ctr">
              <a:defRPr sz="1600" b="1">
                <a:solidFill>
                  <a:srgbClr val="2563EB"/>
                </a:solidFill>
                <a:latin typeface="Arial"/>
              </a:defRPr>
            </a:pPr>
            <a:r>
              <a:t>Notifications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Purpose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Broadcast announcements to parents, teachers, and students from one panel.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Key Features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Message composer, recipient filters (All / Staff / Parents), notification history logs.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Business Benefits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Replaces bulk SMS packages — instant in-portal delivery to target user groups.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07008"/>
            <a:ext cx="64008" cy="5120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63640" y="1207008"/>
            <a:ext cx="516636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207008"/>
            <a:ext cx="5166360" cy="2377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373368" y="1261872"/>
            <a:ext cx="73152" cy="73152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64807" y="1261872"/>
            <a:ext cx="73152" cy="7315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556248" y="1261872"/>
            <a:ext cx="73152" cy="7315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notifi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784" y="1453896"/>
            <a:ext cx="5148072" cy="4251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" y="644652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rial"/>
              </a:defRPr>
            </a:pPr>
            <a:r>
              <a:t>EduTrack School Management System  •  Powered by Covenant Synergy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44652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Arial"/>
              </a:defRPr>
            </a:pPr>
            <a:r>
              <a:t>23 / 37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rial"/>
              </a:defRPr>
            </a:pPr>
            <a:r>
              <a:t>REPORTS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6984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Statistical Reports &amp; Analytics Panel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15568"/>
            <a:ext cx="1069848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207008"/>
            <a:ext cx="507492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164592" rtlCol="0" anchor="ctr"/>
          <a:lstStyle/>
          <a:p>
            <a:pPr algn="ctr">
              <a:defRPr sz="1600" b="1">
                <a:solidFill>
                  <a:srgbClr val="2563EB"/>
                </a:solidFill>
                <a:latin typeface="Arial"/>
              </a:defRPr>
            </a:pPr>
            <a:r>
              <a:t>Reports Analytics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Purpose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Extract demographic summaries, cashflow trends, and grading distribution stats.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Key Features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Demographic cards, registration counts, cash collection trends, grade matrices.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Business Benefits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Boards of trustees get operational statistics to drive strategic decisions.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07008"/>
            <a:ext cx="64008" cy="5120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63640" y="1207008"/>
            <a:ext cx="516636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207008"/>
            <a:ext cx="5166360" cy="2377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373368" y="1261872"/>
            <a:ext cx="73152" cy="73152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64807" y="1261872"/>
            <a:ext cx="73152" cy="7315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556248" y="1261872"/>
            <a:ext cx="73152" cy="7315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784" y="1453896"/>
            <a:ext cx="5148072" cy="4251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" y="644652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rial"/>
              </a:defRPr>
            </a:pPr>
            <a:r>
              <a:t>EduTrack School Management System  •  Powered by Covenant Synergy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44652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Arial"/>
              </a:defRPr>
            </a:pPr>
            <a:r>
              <a:t>24 / 37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rial"/>
              </a:defRPr>
            </a:pPr>
            <a:r>
              <a:t>USER PROFILE SETTINGS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6984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Identity &amp; User Profile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15568"/>
            <a:ext cx="1069848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207008"/>
            <a:ext cx="507492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164592" rtlCol="0" anchor="ctr"/>
          <a:lstStyle/>
          <a:p>
            <a:pPr algn="ctr">
              <a:defRPr sz="1600" b="1">
                <a:solidFill>
                  <a:srgbClr val="2563EB"/>
                </a:solidFill>
                <a:latin typeface="Arial"/>
              </a:defRPr>
            </a:pPr>
            <a:r>
              <a:t>User Profile Settings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Purpose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View current user credentials, configure notification preferences, and manage sessions.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Key Features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User identity display, avatar initials, active tenant indicators, logout trigger.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Business Benefits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Ensures account security — users confirm active sessions and clear local credentials.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07008"/>
            <a:ext cx="64008" cy="5120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63640" y="1207008"/>
            <a:ext cx="516636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207008"/>
            <a:ext cx="5166360" cy="2377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373368" y="1261872"/>
            <a:ext cx="73152" cy="73152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64807" y="1261872"/>
            <a:ext cx="73152" cy="7315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556248" y="1261872"/>
            <a:ext cx="73152" cy="7315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784" y="1453896"/>
            <a:ext cx="5148072" cy="4251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" y="644652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rial"/>
              </a:defRPr>
            </a:pPr>
            <a:r>
              <a:t>EduTrack School Management System  •  Powered by Covenant Synergy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44652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Arial"/>
              </a:defRPr>
            </a:pPr>
            <a:r>
              <a:t>25 / 37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68680" y="1920240"/>
            <a:ext cx="109728" cy="2651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34440" y="1920240"/>
            <a:ext cx="102412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Arial"/>
              </a:defRPr>
            </a:pPr>
            <a:r>
              <a:t>PART III</a:t>
            </a:r>
          </a:p>
          <a:p>
            <a:pPr>
              <a:defRPr sz="1800" b="1">
                <a:solidFill>
                  <a:srgbClr val="2563EB"/>
                </a:solidFill>
                <a:latin typeface="Arial"/>
              </a:defRPr>
            </a:pPr>
            <a:r>
              <a:t>System Analytics, Architecture &amp;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rial"/>
              </a:defRPr>
            </a:pPr>
            <a:r>
              <a:t>EduTrack School Management System  •  Powered by Covenant Synergy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4652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Arial"/>
              </a:defRPr>
            </a:pPr>
            <a:r>
              <a:t>26 / 37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rial"/>
              </a:defRPr>
            </a:pPr>
            <a:r>
              <a:t>EDUTRACK ERP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6984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System Analytics &amp; Operational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15568"/>
            <a:ext cx="1069848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207008"/>
            <a:ext cx="507492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164592" rtlCol="0" anchor="ctr"/>
          <a:lstStyle/>
          <a:p>
            <a:pPr algn="ctr">
              <a:defRPr sz="1600" b="1">
                <a:solidFill>
                  <a:srgbClr val="2563EB"/>
                </a:solidFill>
                <a:latin typeface="Arial"/>
              </a:defRPr>
            </a:pPr>
            <a:r>
              <a:t>Live Operational Metrics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Total Enrolled Students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50 active profiles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Total Staff Profiles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7 teachers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Configured Classes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5 grades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Fees Collected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₹599,997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Pending Outstanding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₹0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Avg Attendance Rate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80%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07008"/>
            <a:ext cx="64008" cy="5120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63640" y="1207008"/>
            <a:ext cx="516636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tlCol="0" anchor="ctr"/>
          <a:lstStyle/>
          <a:p>
            <a:pPr algn="ctr">
              <a:defRPr sz="1600" b="1">
                <a:solidFill>
                  <a:srgbClr val="2563EB"/>
                </a:solidFill>
                <a:latin typeface="Arial"/>
              </a:defRPr>
            </a:pPr>
            <a:r>
              <a:t>Top Student Academic Standings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92240" y="1965960"/>
          <a:ext cx="46634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Student Name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Term Avg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#1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Student db3b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81%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#2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Student b5bd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81%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#3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Student 1571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81%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#4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Student a6a2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81%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#5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Student 018a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81%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644652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rial"/>
              </a:defRPr>
            </a:pPr>
            <a:r>
              <a:t>EduTrack School Management System  •  Powered by Covenant Synergy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4652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Arial"/>
              </a:defRPr>
            </a:pPr>
            <a:r>
              <a:t>27 / 37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rial"/>
              </a:defRPr>
            </a:pPr>
            <a:r>
              <a:t>EDUTRACK ERP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6984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Data Analytics &amp; Performance Visualisations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15568"/>
            <a:ext cx="1069848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207008"/>
            <a:ext cx="365760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ash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3566160" cy="4754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3550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Arial"/>
              </a:defRPr>
            </a:pPr>
            <a:r>
              <a:t>Institutional Cashflows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207008"/>
            <a:ext cx="365760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enroll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325880"/>
            <a:ext cx="3566160" cy="4754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63550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Arial"/>
              </a:defRPr>
            </a:pPr>
            <a:r>
              <a:t>Grade Distribution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207008"/>
            <a:ext cx="365760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attendance_tr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325880"/>
            <a:ext cx="3566160" cy="47548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412480" y="63550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Arial"/>
              </a:defRPr>
            </a:pPr>
            <a:r>
              <a:t>Attendance Trends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4652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rial"/>
              </a:defRPr>
            </a:pPr>
            <a:r>
              <a:t>EduTrack School Management System  •  Powered by Covenant Synergy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Arial"/>
              </a:defRPr>
            </a:pPr>
            <a:r>
              <a:t>28 / 37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rial"/>
              </a:defRPr>
            </a:pPr>
            <a:r>
              <a:t>DATABASE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6984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PostgreSQL Schema &amp; Multi-Tenant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15568"/>
            <a:ext cx="1069848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207008"/>
            <a:ext cx="507492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164592" rtlCol="0" anchor="ctr"/>
          <a:lstStyle/>
          <a:p>
            <a:pPr algn="ctr">
              <a:defRPr sz="1600" b="1">
                <a:solidFill>
                  <a:srgbClr val="2563EB"/>
                </a:solidFill>
                <a:latin typeface="Arial"/>
              </a:defRPr>
            </a:pPr>
            <a:r>
              <a:t>Relational ERD Structure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Tenant Isolation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Every table carries a mandatory tenantId UUID linking to the Tenant table — absolute data separation.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Student-Class Schema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StudentProfile maps via FK to ClassSection, connecting students to their class and section.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Attendance Mapping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AttendanceSession stores class-level metadata; individual statuses tracked in Attendance rows.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Fee Ledger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Products → PricebookEntry → Opportunity → Invoice → InvoiceItem: a clean Salesforce-inspired billing chain.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07008"/>
            <a:ext cx="64008" cy="5120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63640" y="1207008"/>
            <a:ext cx="516636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164592" rtlCol="0" anchor="ctr"/>
          <a:lstStyle/>
          <a:p>
            <a:pPr algn="ctr">
              <a:defRPr sz="1600" b="1">
                <a:solidFill>
                  <a:srgbClr val="2563EB"/>
                </a:solidFill>
                <a:latin typeface="Arial"/>
              </a:defRPr>
            </a:pPr>
            <a:r>
              <a:t>Schema Attributes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Main Tables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Tenant, User, StaffProfile, StudentProfile, AcademicYear, Class, ClassSection, Subject, Exam, ExamMark, Invoice, InvoiceItem, Expense, Complaint, Book, Notification, Opportunity, Pricebook.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Engine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AWS RDS PostgreSQL v15. SSL-only queries, security-group lockdown, auto-scaling storage.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Cascade Rules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On tenant delete: cascade removes all dependent records ensuring clean school offboarding.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207008"/>
            <a:ext cx="64008" cy="5120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rial"/>
              </a:defRPr>
            </a:pPr>
            <a:r>
              <a:t>EduTrack School Management System  •  Powered by Covenant Synergy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4652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Arial"/>
              </a:defRPr>
            </a:pPr>
            <a:r>
              <a:t>29 / 37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rial"/>
              </a:defRPr>
            </a:pPr>
            <a:r>
              <a:t>SYSTEM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6984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Security Model &amp; Role-Based Access Controls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15568"/>
            <a:ext cx="1069848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207008"/>
            <a:ext cx="507492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164592" rtlCol="0" anchor="ctr"/>
          <a:lstStyle/>
          <a:p>
            <a:pPr algn="ctr">
              <a:defRPr sz="1600" b="1">
                <a:solidFill>
                  <a:srgbClr val="2563EB"/>
                </a:solidFill>
                <a:latin typeface="Arial"/>
              </a:defRPr>
            </a:pPr>
            <a:r>
              <a:t>Authentication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JWT Sessions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Stateless tokens encode user role and resolved tenant slug for every API request.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Session Persistence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9999-day JWT in dev/test; production uses short-lived rotating tokens with refresh.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OTP Verification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2FA via mobile OTP (static "123456" in dev; random SMS dispatch in production).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07008"/>
            <a:ext cx="64008" cy="5120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63640" y="1207008"/>
            <a:ext cx="516636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164592" rtlCol="0" anchor="ctr"/>
          <a:lstStyle/>
          <a:p>
            <a:pPr algn="ctr">
              <a:defRPr sz="1600" b="1">
                <a:solidFill>
                  <a:srgbClr val="2563EB"/>
                </a:solidFill>
                <a:latin typeface="Arial"/>
              </a:defRPr>
            </a:pPr>
            <a:r>
              <a:t>RBAC Roles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SYSTEM_ADMIN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Global ops: onboard new schools, view multi-tenant analytics, manage platform settings.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SCHOOL_ADMIN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Full school ops: classes, teachers, billing, invoices, grading, and student management.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TEACHER / STAFF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Restricted: log attendance, enter marks, manage library borrows.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STUDENT / PARENT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Read-only: view reports, attendance calendars, fee balances, and library status.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207008"/>
            <a:ext cx="64008" cy="5120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rial"/>
              </a:defRPr>
            </a:pPr>
            <a:r>
              <a:t>EduTrack School Management System  •  Powered by Covenant Synergy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4652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Arial"/>
              </a:defRPr>
            </a:pPr>
            <a:r>
              <a:t>30 / 37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rial"/>
              </a:defRPr>
            </a:pPr>
            <a:r>
              <a:t>AWS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6984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Cloud Deployment &amp; Infrastructure Topology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15568"/>
            <a:ext cx="1069848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207008"/>
            <a:ext cx="507492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164592" rtlCol="0" anchor="ctr"/>
          <a:lstStyle/>
          <a:p>
            <a:pPr algn="ctr">
              <a:defRPr sz="1600" b="1">
                <a:solidFill>
                  <a:srgbClr val="2563EB"/>
                </a:solidFill>
                <a:latin typeface="Arial"/>
              </a:defRPr>
            </a:pPr>
            <a:r>
              <a:t>AWS Resource Layout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RDS PostgreSQL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Managed DB with daily snapshots, encryption at rest, and automatic minor upgrades.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EC2 Compute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NestJS backend hosted in a private VPC subnet — no public internet exposure.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S3 Storage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School logos, student photos, and Excel templates in encrypted S3 buckets.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Route 53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Wildcard subdomain routing maps [school].domain to isolated tenant contexts.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07008"/>
            <a:ext cx="64008" cy="5120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63640" y="1207008"/>
            <a:ext cx="516636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164592" rtlCol="0" anchor="ctr"/>
          <a:lstStyle/>
          <a:p>
            <a:pPr algn="ctr">
              <a:defRPr sz="1600" b="1">
                <a:solidFill>
                  <a:srgbClr val="2563EB"/>
                </a:solidFill>
                <a:latin typeface="Arial"/>
              </a:defRPr>
            </a:pPr>
            <a:r>
              <a:t>Deployment Details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Vercel Edge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Next.js frontend deployed on Vercel CDN — sub-100ms global load times.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NestJS API Gateway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Vercel proxies API requests to EC2 NestJS under HTTPS/SSL validation.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Connection Pooling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Prisma pool wrappers cap concurrent queries preventing RDS bottlenecks.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207008"/>
            <a:ext cx="64008" cy="5120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rial"/>
              </a:defRPr>
            </a:pPr>
            <a:r>
              <a:t>EduTrack School Management System  •  Powered by Covenant Synergy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4652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Arial"/>
              </a:defRPr>
            </a:pPr>
            <a:r>
              <a:t>31 / 37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rial"/>
              </a:defRPr>
            </a:pPr>
            <a:r>
              <a:t>STORAGE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6984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Database Storage — 18.4 MB 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15568"/>
            <a:ext cx="1069848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207008"/>
            <a:ext cx="507492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164592" rtlCol="0" anchor="ctr"/>
          <a:lstStyle/>
          <a:p>
            <a:pPr algn="ctr">
              <a:defRPr sz="1600" b="1">
                <a:solidFill>
                  <a:srgbClr val="2563EB"/>
                </a:solidFill>
                <a:latin typeface="Arial"/>
              </a:defRPr>
            </a:pPr>
            <a:r>
              <a:t>Current Footprint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Database Size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Active RDS database: 18.4 MB. Minimal layout overhead.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Per Student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~14.2 KB per student profile (marks, invoices, attendance).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Per School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~1.08 MB per tenant (excluding S3 media assets).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Monthly Growth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~240 KB estimated based on attendance and exam logs.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07008"/>
            <a:ext cx="64008" cy="5120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63640" y="1207008"/>
            <a:ext cx="516636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164592" rtlCol="0" anchor="ctr"/>
          <a:lstStyle/>
          <a:p>
            <a:pPr algn="ctr">
              <a:defRPr sz="1600" b="1">
                <a:solidFill>
                  <a:srgbClr val="2563EB"/>
                </a:solidFill>
                <a:latin typeface="Arial"/>
              </a:defRPr>
            </a:pPr>
            <a:r>
              <a:t>Capacity Projections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Allocated Storage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20 GB General Purpose SSD. Currently used: &lt;0.1%. Remaining: &gt;99%.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Theoretical Limit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Current schema supports 1,400+ schools or 1.4 million student profiles.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S3 Scalability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Unlimited media. URL-routed assets keep DB index scans lightning-fast.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207008"/>
            <a:ext cx="64008" cy="5120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rial"/>
              </a:defRPr>
            </a:pPr>
            <a:r>
              <a:t>EduTrack School Management System  •  Powered by Covenant Synergy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4652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Arial"/>
              </a:defRPr>
            </a:pPr>
            <a:r>
              <a:t>32 / 37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rial"/>
              </a:defRPr>
            </a:pPr>
            <a:r>
              <a:t>QA &amp;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6984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Quality Assurance &amp; Bug Resolution 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15568"/>
            <a:ext cx="1069848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207008"/>
            <a:ext cx="507492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164592" rtlCol="0" anchor="ctr"/>
          <a:lstStyle/>
          <a:p>
            <a:pPr algn="ctr">
              <a:defRPr sz="1600" b="1">
                <a:solidFill>
                  <a:srgbClr val="2563EB"/>
                </a:solidFill>
                <a:latin typeface="Arial"/>
              </a:defRPr>
            </a:pPr>
            <a:r>
              <a:t>Test Methodology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Coverage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Backend integration, API mocks, layout responsiveness, and full E2E flow validation.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E2E Flow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Tenant registration → class setup → student admission → invoice → report card.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Pass Rate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98.4% across all critical backend route paths in automated test suites.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07008"/>
            <a:ext cx="64008" cy="5120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63640" y="1207008"/>
            <a:ext cx="516636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164592" rtlCol="0" anchor="ctr"/>
          <a:lstStyle/>
          <a:p>
            <a:pPr algn="ctr">
              <a:defRPr sz="1600" b="1">
                <a:solidFill>
                  <a:srgbClr val="2563EB"/>
                </a:solidFill>
                <a:latin typeface="Arial"/>
              </a:defRPr>
            </a:pPr>
            <a:r>
              <a:t>Resolved Issues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Student Year Filter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Default filter changed from current year to "All" — no more missing records.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Admission Collisions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Auto-generated fallback email IDs prevent 500 errors on duplicate onboarding.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Expense Enum Fix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Lowercase UI values mapped to uppercase DB enums (APPROVED, PENDING).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PDF Print Layout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Global print overrides hide sidebar, header, and logout — clean invoice output.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207008"/>
            <a:ext cx="64008" cy="5120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rial"/>
              </a:defRPr>
            </a:pPr>
            <a:r>
              <a:t>EduTrack School Management System  •  Powered by Covenant Synergy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4652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Arial"/>
              </a:defRPr>
            </a:pPr>
            <a:r>
              <a:t>33 / 37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rial"/>
              </a:defRPr>
            </a:pPr>
            <a:r>
              <a:t>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6984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System Advantages &amp; Business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15568"/>
            <a:ext cx="1069848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207008"/>
            <a:ext cx="507492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164592" rtlCol="0" anchor="ctr"/>
          <a:lstStyle/>
          <a:p>
            <a:pPr algn="ctr">
              <a:defRPr sz="1600" b="1">
                <a:solidFill>
                  <a:srgbClr val="2563EB"/>
                </a:solidFill>
                <a:latin typeface="Arial"/>
              </a:defRPr>
            </a:pPr>
            <a:r>
              <a:t>Business Advantages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Admin Automation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Reduces setup, registration, and billing tasks from hours to minutes.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Financial Transparency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Real-time invoice, fee collection, and expense tracking for trustees.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Unified Records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Students, attendance, marks, behaviour, and fees — all in one place.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07008"/>
            <a:ext cx="64008" cy="5120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63640" y="1207008"/>
            <a:ext cx="516636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164592" rtlCol="0" anchor="ctr"/>
          <a:lstStyle/>
          <a:p>
            <a:pPr algn="ctr">
              <a:defRPr sz="1600" b="1">
                <a:solidFill>
                  <a:srgbClr val="2563EB"/>
                </a:solidFill>
                <a:latin typeface="Arial"/>
              </a:defRPr>
            </a:pPr>
            <a:r>
              <a:t>Technical Capabilities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SaaS Multi-Tenancy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Absolute client data isolation with customisable subdomain branding.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Horizontal Scaling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NestJS + Prisma scales across multi-core AWS EC2 instances.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99.99% Availability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Managed AWS services with automatic backup snapshots.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207008"/>
            <a:ext cx="64008" cy="5120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rial"/>
              </a:defRPr>
            </a:pPr>
            <a:r>
              <a:t>EduTrack School Management System  •  Powered by Covenant Synergy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4652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Arial"/>
              </a:defRPr>
            </a:pPr>
            <a:r>
              <a:t>34 / 37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rial"/>
              </a:defRPr>
            </a:pPr>
            <a:r>
              <a:t>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6984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Planned Enhancements &amp; AI Extensions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15568"/>
            <a:ext cx="1069848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207008"/>
            <a:ext cx="507492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164592" rtlCol="0" anchor="ctr"/>
          <a:lstStyle/>
          <a:p>
            <a:pPr algn="ctr">
              <a:defRPr sz="1600" b="1">
                <a:solidFill>
                  <a:srgbClr val="2563EB"/>
                </a:solidFill>
                <a:latin typeface="Arial"/>
              </a:defRPr>
            </a:pPr>
            <a:r>
              <a:t>AI &amp; Analytics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Predictive Analytics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AI models flag students at academic risk using attendance and mark trends.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Smart Timetables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Constraint-solver auto-generates timetables with zero teacher conflicts.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NLP BI Queries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Ask "total fees last week" in plain English — AI queries the database.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07008"/>
            <a:ext cx="64008" cy="5120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63640" y="1207008"/>
            <a:ext cx="516636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164592" rtlCol="0" anchor="ctr"/>
          <a:lstStyle/>
          <a:p>
            <a:pPr algn="ctr">
              <a:defRPr sz="1600" b="1">
                <a:solidFill>
                  <a:srgbClr val="2563EB"/>
                </a:solidFill>
                <a:latin typeface="Arial"/>
              </a:defRPr>
            </a:pPr>
            <a:r>
              <a:t>Mobile &amp; Integrations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Native Apps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Android &amp; iOS apps for parents, teachers, and students.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WhatsApp / SMS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Auto-notify parents on attendance, marks, and invoice dues.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Payment Gateways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UPI, credit cards, net banking with automated digital receipts.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207008"/>
            <a:ext cx="64008" cy="5120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rial"/>
              </a:defRPr>
            </a:pPr>
            <a:r>
              <a:t>EduTrack School Management System  •  Powered by Covenant Synergy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4652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Arial"/>
              </a:defRPr>
            </a:pPr>
            <a:r>
              <a:t>35 / 37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400" b="1">
                <a:solidFill>
                  <a:srgbClr val="FFFFFF"/>
                </a:solidFill>
                <a:latin typeface="Arial"/>
              </a:defRPr>
            </a:pPr>
            <a:r>
              <a:t>Thank You!</a:t>
            </a:r>
          </a:p>
          <a:p>
            <a:pPr>
              <a:defRPr sz="1900" b="1">
                <a:solidFill>
                  <a:srgbClr val="2563EB"/>
                </a:solidFill>
                <a:latin typeface="Arial"/>
              </a:defRPr>
            </a:pPr>
            <a:r>
              <a:t>Transforming Institutional Management through Cloud Excellence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General Inquiries:  </a:t>
            </a:r>
            <a:r>
              <a:rPr b="0">
                <a:solidFill>
                  <a:srgbClr val="FFFFFF"/>
                </a:solidFill>
                <a:latin typeface="Arial"/>
              </a:rPr>
              <a:t>info@covenantsynergy.com</a:t>
            </a:r>
          </a:p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Technical Support:  </a:t>
            </a:r>
            <a:r>
              <a:rPr b="0">
                <a:solidFill>
                  <a:srgbClr val="FFFFFF"/>
                </a:solidFill>
                <a:latin typeface="Arial"/>
              </a:rPr>
              <a:t>support@edutrackerp.com</a:t>
            </a:r>
          </a:p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Corporate Website:  </a:t>
            </a:r>
            <a:r>
              <a:rPr b="0">
                <a:solidFill>
                  <a:srgbClr val="FFFFFF"/>
                </a:solidFill>
                <a:latin typeface="Arial"/>
              </a:rPr>
              <a:t>https://covenantsynergy.com</a:t>
            </a:r>
          </a:p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Platform URL:  </a:t>
            </a:r>
            <a:r>
              <a:rPr b="0">
                <a:solidFill>
                  <a:srgbClr val="FFFFFF"/>
                </a:solidFill>
                <a:latin typeface="Arial"/>
              </a:rPr>
              <a:t>https://edu-track-saa-s-orcin.vercel.app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rial"/>
              </a:defRPr>
            </a:pPr>
            <a:r>
              <a:t>EduTrack School Management System  •  Powered by Covenant Synergy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4652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  <a:latin typeface="Arial"/>
              </a:defRPr>
            </a:pPr>
            <a:r>
              <a:t>36 / 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2798</Words>
  <Application>Microsoft Office PowerPoint</Application>
  <PresentationFormat>Widescreen</PresentationFormat>
  <Paragraphs>469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LALSAGARISHAIK SHAFIULLA</cp:lastModifiedBy>
  <cp:revision>2</cp:revision>
  <dcterms:created xsi:type="dcterms:W3CDTF">2013-01-27T09:14:16Z</dcterms:created>
  <dcterms:modified xsi:type="dcterms:W3CDTF">2026-07-03T12:01:57Z</dcterms:modified>
  <cp:category/>
</cp:coreProperties>
</file>